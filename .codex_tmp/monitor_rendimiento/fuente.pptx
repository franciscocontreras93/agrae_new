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ADEB1B-12A3-4165-B8A7-4CDE544F50B4}" v="2" dt="2023-07-17T20:21:23.85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30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rge Miñón" userId="941cb675e6b69e30" providerId="LiveId" clId="{4DADEB1B-12A3-4165-B8A7-4CDE544F50B4}"/>
    <pc:docChg chg="undo custSel addSld modSld">
      <pc:chgData name="Jorge Miñón" userId="941cb675e6b69e30" providerId="LiveId" clId="{4DADEB1B-12A3-4165-B8A7-4CDE544F50B4}" dt="2023-07-17T20:37:49.721" v="1188" actId="20577"/>
      <pc:docMkLst>
        <pc:docMk/>
      </pc:docMkLst>
      <pc:sldChg chg="delSp modSp mod">
        <pc:chgData name="Jorge Miñón" userId="941cb675e6b69e30" providerId="LiveId" clId="{4DADEB1B-12A3-4165-B8A7-4CDE544F50B4}" dt="2023-07-17T20:18:46.237" v="14" actId="20577"/>
        <pc:sldMkLst>
          <pc:docMk/>
          <pc:sldMk cId="3700089710" sldId="256"/>
        </pc:sldMkLst>
        <pc:spChg chg="mod">
          <ac:chgData name="Jorge Miñón" userId="941cb675e6b69e30" providerId="LiveId" clId="{4DADEB1B-12A3-4165-B8A7-4CDE544F50B4}" dt="2023-07-17T20:18:05.820" v="5" actId="20577"/>
          <ac:spMkLst>
            <pc:docMk/>
            <pc:sldMk cId="3700089710" sldId="256"/>
            <ac:spMk id="6" creationId="{AAD1007F-0B35-78AA-A0A6-3F8FD5D5CA98}"/>
          </ac:spMkLst>
        </pc:spChg>
        <pc:spChg chg="mod">
          <ac:chgData name="Jorge Miñón" userId="941cb675e6b69e30" providerId="LiveId" clId="{4DADEB1B-12A3-4165-B8A7-4CDE544F50B4}" dt="2023-07-17T20:18:03.454" v="2" actId="20577"/>
          <ac:spMkLst>
            <pc:docMk/>
            <pc:sldMk cId="3700089710" sldId="256"/>
            <ac:spMk id="9" creationId="{1C4C34F4-F0AB-0449-15EB-542E19C843CA}"/>
          </ac:spMkLst>
        </pc:spChg>
        <pc:spChg chg="mod">
          <ac:chgData name="Jorge Miñón" userId="941cb675e6b69e30" providerId="LiveId" clId="{4DADEB1B-12A3-4165-B8A7-4CDE544F50B4}" dt="2023-07-17T20:18:46.237" v="14" actId="20577"/>
          <ac:spMkLst>
            <pc:docMk/>
            <pc:sldMk cId="3700089710" sldId="256"/>
            <ac:spMk id="21" creationId="{F322EE55-2AE5-0508-6B4C-8039ACC91458}"/>
          </ac:spMkLst>
        </pc:spChg>
        <pc:spChg chg="del mod">
          <ac:chgData name="Jorge Miñón" userId="941cb675e6b69e30" providerId="LiveId" clId="{4DADEB1B-12A3-4165-B8A7-4CDE544F50B4}" dt="2023-07-17T20:18:15.907" v="9" actId="478"/>
          <ac:spMkLst>
            <pc:docMk/>
            <pc:sldMk cId="3700089710" sldId="256"/>
            <ac:spMk id="25" creationId="{01FEC9E5-0002-E4A2-549D-E539777C7FB2}"/>
          </ac:spMkLst>
        </pc:spChg>
        <pc:spChg chg="del">
          <ac:chgData name="Jorge Miñón" userId="941cb675e6b69e30" providerId="LiveId" clId="{4DADEB1B-12A3-4165-B8A7-4CDE544F50B4}" dt="2023-07-17T20:18:15.907" v="9" actId="478"/>
          <ac:spMkLst>
            <pc:docMk/>
            <pc:sldMk cId="3700089710" sldId="256"/>
            <ac:spMk id="26" creationId="{9C8E4305-6DE3-4337-1380-AD70439F3727}"/>
          </ac:spMkLst>
        </pc:spChg>
        <pc:spChg chg="del">
          <ac:chgData name="Jorge Miñón" userId="941cb675e6b69e30" providerId="LiveId" clId="{4DADEB1B-12A3-4165-B8A7-4CDE544F50B4}" dt="2023-07-17T20:18:15.907" v="9" actId="478"/>
          <ac:spMkLst>
            <pc:docMk/>
            <pc:sldMk cId="3700089710" sldId="256"/>
            <ac:spMk id="28" creationId="{6336042E-1168-5095-5F33-3A6BAC60E78C}"/>
          </ac:spMkLst>
        </pc:spChg>
        <pc:graphicFrameChg chg="del">
          <ac:chgData name="Jorge Miñón" userId="941cb675e6b69e30" providerId="LiveId" clId="{4DADEB1B-12A3-4165-B8A7-4CDE544F50B4}" dt="2023-07-17T20:18:15.907" v="9" actId="478"/>
          <ac:graphicFrameMkLst>
            <pc:docMk/>
            <pc:sldMk cId="3700089710" sldId="256"/>
            <ac:graphicFrameMk id="30" creationId="{C21A7311-3857-7330-5FC5-0A1D373C8205}"/>
          </ac:graphicFrameMkLst>
        </pc:graphicFrameChg>
      </pc:sldChg>
      <pc:sldChg chg="modSp mod">
        <pc:chgData name="Jorge Miñón" userId="941cb675e6b69e30" providerId="LiveId" clId="{4DADEB1B-12A3-4165-B8A7-4CDE544F50B4}" dt="2023-07-17T20:20:00.971" v="15" actId="27918"/>
        <pc:sldMkLst>
          <pc:docMk/>
          <pc:sldMk cId="804705290" sldId="257"/>
        </pc:sldMkLst>
        <pc:spChg chg="mod">
          <ac:chgData name="Jorge Miñón" userId="941cb675e6b69e30" providerId="LiveId" clId="{4DADEB1B-12A3-4165-B8A7-4CDE544F50B4}" dt="2023-07-17T20:18:19.957" v="12" actId="20577"/>
          <ac:spMkLst>
            <pc:docMk/>
            <pc:sldMk cId="804705290" sldId="257"/>
            <ac:spMk id="2" creationId="{7954603D-15E3-482A-C129-C843FD4234ED}"/>
          </ac:spMkLst>
        </pc:spChg>
      </pc:sldChg>
      <pc:sldChg chg="addSp modSp new mod">
        <pc:chgData name="Jorge Miñón" userId="941cb675e6b69e30" providerId="LiveId" clId="{4DADEB1B-12A3-4165-B8A7-4CDE544F50B4}" dt="2023-07-17T20:37:49.721" v="1188" actId="20577"/>
        <pc:sldMkLst>
          <pc:docMk/>
          <pc:sldMk cId="3667560130" sldId="258"/>
        </pc:sldMkLst>
        <pc:spChg chg="add mod">
          <ac:chgData name="Jorge Miñón" userId="941cb675e6b69e30" providerId="LiveId" clId="{4DADEB1B-12A3-4165-B8A7-4CDE544F50B4}" dt="2023-07-17T20:21:15.328" v="64" actId="20577"/>
          <ac:spMkLst>
            <pc:docMk/>
            <pc:sldMk cId="3667560130" sldId="258"/>
            <ac:spMk id="2" creationId="{9CB160C6-CF2D-00B5-A4A2-4A6174765AB2}"/>
          </ac:spMkLst>
        </pc:spChg>
        <pc:spChg chg="add mod">
          <ac:chgData name="Jorge Miñón" userId="941cb675e6b69e30" providerId="LiveId" clId="{4DADEB1B-12A3-4165-B8A7-4CDE544F50B4}" dt="2023-07-17T20:37:49.721" v="1188" actId="20577"/>
          <ac:spMkLst>
            <pc:docMk/>
            <pc:sldMk cId="3667560130" sldId="258"/>
            <ac:spMk id="3" creationId="{70DB861F-21D7-83FE-F5CF-9499B56D8D1A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Libro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8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ES"/>
              <a:t>AJUSTE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8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intercept val="0"/>
            <c:dispRSqr val="1"/>
            <c:dispEq val="1"/>
            <c:trendlineLbl>
              <c:layout>
                <c:manualLayout>
                  <c:x val="-0.19397266751164027"/>
                  <c:y val="1.8051708217913204E-2"/>
                </c:manualLayout>
              </c:layout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800" b="0" i="0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s-ES"/>
                </a:p>
              </c:txPr>
            </c:trendlineLbl>
          </c:trendline>
          <c:xVal>
            <c:numRef>
              <c:f>Hoja1!$E$34:$E$36</c:f>
              <c:numCache>
                <c:formatCode>#,##0\ "Kg/ha"</c:formatCode>
                <c:ptCount val="3"/>
                <c:pt idx="0">
                  <c:v>0</c:v>
                </c:pt>
                <c:pt idx="1">
                  <c:v>4032</c:v>
                </c:pt>
                <c:pt idx="2">
                  <c:v>13000</c:v>
                </c:pt>
              </c:numCache>
            </c:numRef>
          </c:xVal>
          <c:yVal>
            <c:numRef>
              <c:f>Hoja1!$F$34:$F$36</c:f>
              <c:numCache>
                <c:formatCode>#,##0\ "Kg/ha"</c:formatCode>
                <c:ptCount val="3"/>
                <c:pt idx="0">
                  <c:v>0</c:v>
                </c:pt>
                <c:pt idx="1">
                  <c:v>2580</c:v>
                </c:pt>
                <c:pt idx="2">
                  <c:v>4773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2E77-4910-B2D7-AC75DA411C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38104863"/>
        <c:axId val="438096703"/>
      </c:scatterChart>
      <c:valAx>
        <c:axId val="43810486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ES"/>
                  <a:t>MAPA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</c:title>
        <c:numFmt formatCode="#,##0\ &quot;Kg/ha&quot;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438096703"/>
        <c:crosses val="autoZero"/>
        <c:crossBetween val="midCat"/>
      </c:valAx>
      <c:valAx>
        <c:axId val="4380967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ES"/>
                  <a:t>REAL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</c:title>
        <c:numFmt formatCode="#,##0\ &quot;Kg/ha&quot;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438104863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accent4">
        <a:lumMod val="20000"/>
        <a:lumOff val="80000"/>
      </a:schemeClr>
    </a:solidFill>
    <a:ln>
      <a:noFill/>
    </a:ln>
    <a:effectLst/>
  </c:spPr>
  <c:txPr>
    <a:bodyPr/>
    <a:lstStyle/>
    <a:p>
      <a:pPr>
        <a:defRPr sz="1400"/>
      </a:pPr>
      <a:endParaRPr lang="es-E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81F426-FF77-3DB5-2A13-B5AA5026F0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E643447-8D3C-144D-4DB5-69AEB62056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AF3B69A-04EA-B64B-B4B1-D79175948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0D01-2191-49B8-995E-485AFE9322BC}" type="datetimeFigureOut">
              <a:rPr lang="es-ES" smtClean="0"/>
              <a:t>13/07/2023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000AA1D-3EEE-079A-86E2-DBFCF76F5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FC35B1C-7614-6230-515B-8350BC628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75ACA-F21B-42DE-8EE2-0D9D6F4A3D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579236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2D8837-34DD-131F-DA59-9D5A32AC9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CE23435-47CE-03C5-6B56-2B213B2303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ECCE51F-4EF7-69EB-78AF-60B671DFD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0D01-2191-49B8-995E-485AFE9322BC}" type="datetimeFigureOut">
              <a:rPr lang="es-ES" smtClean="0"/>
              <a:t>13/07/2023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AC2C389-8D4C-95F2-FC35-D2FE27FA2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1CABAF0-FE1C-FEFF-ABB7-A7D27F705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75ACA-F21B-42DE-8EE2-0D9D6F4A3D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54335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E5DCD1-3112-F7EF-34F8-4BA47E387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C55A94D-CD22-C808-6424-DECA36D55C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A008BE-67D0-B7D5-0A40-B0A3E5701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0D01-2191-49B8-995E-485AFE9322BC}" type="datetimeFigureOut">
              <a:rPr lang="es-ES" smtClean="0"/>
              <a:t>13/07/2023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3D245F7-1A3D-58A6-38DD-98589D948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37D988C-2BFD-4EAD-6967-9562096B3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75ACA-F21B-42DE-8EE2-0D9D6F4A3D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5806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213606-43DC-C827-5971-C19C774FB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A0E3B93-C588-B5E6-40B9-2515A0B953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CC465FD-23AA-A112-260E-78F9BACAB8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D8BC7DF-9CEB-1D06-AB74-A7F9B8175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0D01-2191-49B8-995E-485AFE9322BC}" type="datetimeFigureOut">
              <a:rPr lang="es-ES" smtClean="0"/>
              <a:t>13/07/2023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98BC530-F044-7032-5F90-F0DFECFD1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4062623-74F6-55E2-D505-0C69352EC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75ACA-F21B-42DE-8EE2-0D9D6F4A3D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10084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875AB2-4D26-6646-6BF0-FF6D8446C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B51DADF-F8D6-A1D6-F071-0E6619FBC6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FECDEA2-2999-72E2-070B-B231EEB041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B0F82A8-FB18-285F-CDAB-422071C96D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A431DE9-01C6-2DD6-D368-2F3BCC8F9A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8E32614-827A-A50A-CA58-55AA9CBC4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0D01-2191-49B8-995E-485AFE9322BC}" type="datetimeFigureOut">
              <a:rPr lang="es-ES" smtClean="0"/>
              <a:t>13/07/2023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2291B5B-97C7-2771-B170-90AF5E60A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89F5B73-20B5-8C84-FE37-EFA2B4B56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75ACA-F21B-42DE-8EE2-0D9D6F4A3D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14068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80E5DB-2C21-C982-EBC3-2C32406AD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2811F0B-E1E7-F1F0-1EF4-B0EAACCCD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0D01-2191-49B8-995E-485AFE9322BC}" type="datetimeFigureOut">
              <a:rPr lang="es-ES" smtClean="0"/>
              <a:t>13/07/2023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E443F6D-EEAF-899D-338C-F4B070F1A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46A0957-4063-368B-8FA1-A2B859BE3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75ACA-F21B-42DE-8EE2-0D9D6F4A3D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27684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3DB5535-1C4B-92F6-4A0C-9448CB16B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0D01-2191-49B8-995E-485AFE9322BC}" type="datetimeFigureOut">
              <a:rPr lang="es-ES" smtClean="0"/>
              <a:t>13/07/2023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16351F5-CBA6-4892-24D8-07393A23F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9A7079F-7B7C-AA64-94D3-F6EBB96B3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75ACA-F21B-42DE-8EE2-0D9D6F4A3D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986242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054535-1225-92CA-0C16-760406834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2D98F89-B61F-70CE-0D8A-F428CED5B3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0F26E68-3C42-E8A0-EFDA-BC990E648B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4D77B58-1479-C257-5147-5F7A5C939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0D01-2191-49B8-995E-485AFE9322BC}" type="datetimeFigureOut">
              <a:rPr lang="es-ES" smtClean="0"/>
              <a:t>13/07/2023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A0458A3-8D9E-784C-165F-4D6BF1C00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78F678A-DED5-EE96-4AA5-0E74104C1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75ACA-F21B-42DE-8EE2-0D9D6F4A3D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83858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AE1AEF-ACFB-C9DE-F1C3-2F405D93E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856E077-E0B6-8EED-225B-6ADBB93E74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7907F62-1B32-A126-05C4-67D5FB2426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504112D-94DD-F526-4DBF-FDF6E14C4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0D01-2191-49B8-995E-485AFE9322BC}" type="datetimeFigureOut">
              <a:rPr lang="es-ES" smtClean="0"/>
              <a:t>13/07/2023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1BEE9C5-193E-3452-25E7-58BBB94FA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FA39F7C-7FB1-4153-2BC6-A3705259A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75ACA-F21B-42DE-8EE2-0D9D6F4A3D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595656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8F6B6B-10FC-3E6A-C11F-3453826C9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4EBAAA0-EC88-15E8-3357-3AD2E9D7A8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567F91A-798D-90C8-76AE-FCA94DEEF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0D01-2191-49B8-995E-485AFE9322BC}" type="datetimeFigureOut">
              <a:rPr lang="es-ES" smtClean="0"/>
              <a:t>13/07/2023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DA2E2D5-A3EE-58FD-3AB4-D1EEB7546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358B364-4844-43C9-E7D2-C63579872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75ACA-F21B-42DE-8EE2-0D9D6F4A3D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33127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8164E1A-1FA7-8A2F-01BE-0D04C82EDC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0866F3C-1E73-FEB0-B217-057CF57238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293C933-68DD-BEDF-A809-D19CFA189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0D01-2191-49B8-995E-485AFE9322BC}" type="datetimeFigureOut">
              <a:rPr lang="es-ES" smtClean="0"/>
              <a:t>13/07/2023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D406978-F32D-6600-F7CC-CF36B5965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77960E7-C464-2D9D-5D52-E1349E694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75ACA-F21B-42DE-8EE2-0D9D6F4A3D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712007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1B55990-45BC-A0CC-3F0C-F862DBA27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5579F1-ACD9-73FA-0FE8-EF7EBD4A2C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2D45F00-2650-7A48-1F05-A32E0A7E8F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0D01-2191-49B8-995E-485AFE9322BC}" type="datetimeFigureOut">
              <a:rPr lang="es-ES" smtClean="0"/>
              <a:t>13/07/2023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0540CC8-EB6A-B578-62D0-32C73DC0C9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6B4BC7B-8347-75C5-068A-232630D1BA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575ACA-F21B-42DE-8EE2-0D9D6F4A3D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28651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Texto, Carta&#10;&#10;Descripción generada automáticamente">
            <a:extLst>
              <a:ext uri="{FF2B5EF4-FFF2-40B4-BE49-F238E27FC236}">
                <a16:creationId xmlns:a16="http://schemas.microsoft.com/office/drawing/2014/main" id="{C99DFD34-B516-93DD-DB1A-8B572A64B36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32" t="1319" r="4664" b="3590"/>
          <a:stretch/>
        </p:blipFill>
        <p:spPr>
          <a:xfrm>
            <a:off x="150725" y="168310"/>
            <a:ext cx="4541855" cy="6521380"/>
          </a:xfrm>
          <a:prstGeom prst="rect">
            <a:avLst/>
          </a:prstGeom>
        </p:spPr>
      </p:pic>
      <p:grpSp>
        <p:nvGrpSpPr>
          <p:cNvPr id="16" name="Grupo 15">
            <a:extLst>
              <a:ext uri="{FF2B5EF4-FFF2-40B4-BE49-F238E27FC236}">
                <a16:creationId xmlns:a16="http://schemas.microsoft.com/office/drawing/2014/main" id="{0E476F66-D53D-3DBA-9749-DD47D8698C88}"/>
              </a:ext>
            </a:extLst>
          </p:cNvPr>
          <p:cNvGrpSpPr/>
          <p:nvPr/>
        </p:nvGrpSpPr>
        <p:grpSpPr>
          <a:xfrm>
            <a:off x="4827856" y="223798"/>
            <a:ext cx="6994222" cy="1552104"/>
            <a:chOff x="5047053" y="168310"/>
            <a:chExt cx="6994222" cy="1552104"/>
          </a:xfrm>
        </p:grpSpPr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1C4C34F4-F0AB-0449-15EB-542E19C843CA}"/>
                </a:ext>
              </a:extLst>
            </p:cNvPr>
            <p:cNvSpPr txBox="1"/>
            <p:nvPr/>
          </p:nvSpPr>
          <p:spPr>
            <a:xfrm>
              <a:off x="5076976" y="168310"/>
              <a:ext cx="4541855" cy="369332"/>
            </a:xfrm>
            <a:prstGeom prst="rect">
              <a:avLst/>
            </a:prstGeom>
            <a:solidFill>
              <a:srgbClr val="92D05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1. AJUSTE DE RINDES A HUMEDAD FIJA</a:t>
              </a:r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8669B901-1868-1E22-1132-308E7AA0501E}"/>
                </a:ext>
              </a:extLst>
            </p:cNvPr>
            <p:cNvSpPr txBox="1"/>
            <p:nvPr/>
          </p:nvSpPr>
          <p:spPr>
            <a:xfrm>
              <a:off x="5047053" y="590419"/>
              <a:ext cx="6994222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100" dirty="0"/>
                <a:t>Como ves en los mapas hay un campo de humedad y otro de volumen o peso en húmedo. Para poder comparar es preciso llevar los valores a una misma humedad (R). Esta es la fórmula a aplicar a cada registro:</a:t>
              </a:r>
            </a:p>
          </p:txBody>
        </p:sp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9F684D7F-E02E-E4C4-4036-ABB00273A166}"/>
                </a:ext>
              </a:extLst>
            </p:cNvPr>
            <p:cNvSpPr txBox="1"/>
            <p:nvPr/>
          </p:nvSpPr>
          <p:spPr>
            <a:xfrm>
              <a:off x="5167223" y="1100650"/>
              <a:ext cx="202145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400" dirty="0"/>
                <a:t>R = </a:t>
              </a:r>
              <a:r>
                <a:rPr lang="es-ES" sz="1400" dirty="0" err="1"/>
                <a:t>Vh</a:t>
              </a:r>
              <a:r>
                <a:rPr lang="es-ES" sz="1400" dirty="0"/>
                <a:t> * (1-h) / (1-hr) </a:t>
              </a:r>
            </a:p>
          </p:txBody>
        </p:sp>
        <p:sp>
          <p:nvSpPr>
            <p:cNvPr id="12" name="CuadroTexto 11">
              <a:extLst>
                <a:ext uri="{FF2B5EF4-FFF2-40B4-BE49-F238E27FC236}">
                  <a16:creationId xmlns:a16="http://schemas.microsoft.com/office/drawing/2014/main" id="{BA790FBE-A561-8EA0-6322-7D938ABA1072}"/>
                </a:ext>
              </a:extLst>
            </p:cNvPr>
            <p:cNvSpPr txBox="1"/>
            <p:nvPr/>
          </p:nvSpPr>
          <p:spPr>
            <a:xfrm>
              <a:off x="6944265" y="1074083"/>
              <a:ext cx="509700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200" dirty="0" err="1"/>
                <a:t>Vh</a:t>
              </a:r>
              <a:r>
                <a:rPr lang="es-ES" sz="1200" dirty="0"/>
                <a:t> = de los mapas, el campo que tiene la información de rinde</a:t>
              </a:r>
            </a:p>
            <a:p>
              <a:r>
                <a:rPr lang="es-ES" sz="1200" dirty="0"/>
                <a:t>h =de los mapas, el campo que tiene la información de humedad</a:t>
              </a:r>
            </a:p>
            <a:p>
              <a:r>
                <a:rPr lang="es-ES" sz="1200" dirty="0" err="1"/>
                <a:t>hr</a:t>
              </a:r>
              <a:r>
                <a:rPr lang="es-ES" sz="1200" dirty="0"/>
                <a:t> = la humedad de referencia a la que se quieren definir todos los registros</a:t>
              </a:r>
            </a:p>
          </p:txBody>
        </p:sp>
        <p:cxnSp>
          <p:nvCxnSpPr>
            <p:cNvPr id="14" name="Conector recto 13">
              <a:extLst>
                <a:ext uri="{FF2B5EF4-FFF2-40B4-BE49-F238E27FC236}">
                  <a16:creationId xmlns:a16="http://schemas.microsoft.com/office/drawing/2014/main" id="{E85767DD-3ADA-48C6-4707-666FFCF1270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49902" y="1093206"/>
              <a:ext cx="194363" cy="608083"/>
            </a:xfrm>
            <a:prstGeom prst="line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upo 22">
            <a:extLst>
              <a:ext uri="{FF2B5EF4-FFF2-40B4-BE49-F238E27FC236}">
                <a16:creationId xmlns:a16="http://schemas.microsoft.com/office/drawing/2014/main" id="{F5EB9FE4-081F-E1E1-B018-2EE7015CF601}"/>
              </a:ext>
            </a:extLst>
          </p:cNvPr>
          <p:cNvGrpSpPr/>
          <p:nvPr/>
        </p:nvGrpSpPr>
        <p:grpSpPr>
          <a:xfrm>
            <a:off x="4827855" y="1855246"/>
            <a:ext cx="6994222" cy="3182789"/>
            <a:chOff x="5047052" y="1861048"/>
            <a:chExt cx="6994222" cy="3182789"/>
          </a:xfrm>
        </p:grpSpPr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AAD1007F-0B35-78AA-A0A6-3F8FD5D5CA98}"/>
                </a:ext>
              </a:extLst>
            </p:cNvPr>
            <p:cNvSpPr txBox="1"/>
            <p:nvPr/>
          </p:nvSpPr>
          <p:spPr>
            <a:xfrm>
              <a:off x="5078683" y="1861048"/>
              <a:ext cx="4571778" cy="369332"/>
            </a:xfrm>
            <a:prstGeom prst="rect">
              <a:avLst/>
            </a:prstGeom>
            <a:solidFill>
              <a:srgbClr val="92D05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2. RINDES REALES</a:t>
              </a:r>
            </a:p>
          </p:txBody>
        </p:sp>
        <p:grpSp>
          <p:nvGrpSpPr>
            <p:cNvPr id="22" name="Grupo 21">
              <a:extLst>
                <a:ext uri="{FF2B5EF4-FFF2-40B4-BE49-F238E27FC236}">
                  <a16:creationId xmlns:a16="http://schemas.microsoft.com/office/drawing/2014/main" id="{960436B7-D9AD-4FD3-F9A7-994054816993}"/>
                </a:ext>
              </a:extLst>
            </p:cNvPr>
            <p:cNvGrpSpPr/>
            <p:nvPr/>
          </p:nvGrpSpPr>
          <p:grpSpPr>
            <a:xfrm>
              <a:off x="5569837" y="4397506"/>
              <a:ext cx="6348376" cy="646331"/>
              <a:chOff x="5595716" y="2716625"/>
              <a:chExt cx="6348376" cy="646331"/>
            </a:xfrm>
          </p:grpSpPr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A018D809-18ED-5380-5CEB-B65398278A90}"/>
                  </a:ext>
                </a:extLst>
              </p:cNvPr>
              <p:cNvSpPr txBox="1"/>
              <p:nvPr/>
            </p:nvSpPr>
            <p:spPr>
              <a:xfrm>
                <a:off x="6847083" y="2716625"/>
                <a:ext cx="509700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1200" dirty="0"/>
                  <a:t>PL = peso real del lote/s, es decir la cantidad de cosecha que se ha cosechado</a:t>
                </a:r>
              </a:p>
              <a:p>
                <a:r>
                  <a:rPr lang="es-ES" sz="1200" dirty="0"/>
                  <a:t>RL = rinde medio real de los lote/s</a:t>
                </a:r>
              </a:p>
              <a:p>
                <a:r>
                  <a:rPr lang="es-ES" sz="1200" dirty="0"/>
                  <a:t>SL = superficie de los lote/s de referencia </a:t>
                </a:r>
              </a:p>
            </p:txBody>
          </p:sp>
          <p:cxnSp>
            <p:nvCxnSpPr>
              <p:cNvPr id="18" name="Conector recto 17">
                <a:extLst>
                  <a:ext uri="{FF2B5EF4-FFF2-40B4-BE49-F238E27FC236}">
                    <a16:creationId xmlns:a16="http://schemas.microsoft.com/office/drawing/2014/main" id="{2E19E415-7569-5976-D571-86812F4EEA9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656765" y="2754873"/>
                <a:ext cx="194363" cy="608083"/>
              </a:xfrm>
              <a:prstGeom prst="line">
                <a:avLst/>
              </a:prstGeom>
              <a:ln w="28575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BFF5CED7-B5A2-510A-DA14-5D8CA11A10A9}"/>
                  </a:ext>
                </a:extLst>
              </p:cNvPr>
              <p:cNvSpPr txBox="1"/>
              <p:nvPr/>
            </p:nvSpPr>
            <p:spPr>
              <a:xfrm>
                <a:off x="5595716" y="2754873"/>
                <a:ext cx="106104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1400" dirty="0"/>
                  <a:t>RL = PL / SL</a:t>
                </a:r>
              </a:p>
            </p:txBody>
          </p:sp>
        </p:grpSp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F322EE55-2AE5-0508-6B4C-8039ACC91458}"/>
                </a:ext>
              </a:extLst>
            </p:cNvPr>
            <p:cNvSpPr txBox="1"/>
            <p:nvPr/>
          </p:nvSpPr>
          <p:spPr>
            <a:xfrm>
              <a:off x="5047052" y="2252114"/>
              <a:ext cx="6994222" cy="21236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100" dirty="0"/>
                <a:t>Los mapas hay que ajustarlos con la producción real que se ha obtenido, y este ajuste aplicarlo al resto de los lotes de la explotación que tienen el mismo cultivo. Según esta fórmula:</a:t>
              </a:r>
              <a:br>
                <a:rPr lang="es-ES" sz="1100" dirty="0"/>
              </a:br>
              <a:r>
                <a:rPr lang="es-ES" sz="1100" dirty="0"/>
                <a:t>Es importante que habrá explotaciones que tangamos información de cada lote (como en el caso de </a:t>
              </a:r>
              <a:r>
                <a:rPr lang="es-ES" sz="1100" dirty="0" err="1"/>
                <a:t>Coop</a:t>
              </a:r>
              <a:r>
                <a:rPr lang="es-ES" sz="1100" dirty="0"/>
                <a:t> </a:t>
              </a:r>
              <a:r>
                <a:rPr lang="es-ES" sz="1100" dirty="0" err="1"/>
                <a:t>Sta</a:t>
              </a:r>
              <a:r>
                <a:rPr lang="es-ES" sz="1100" dirty="0"/>
                <a:t> Barbara), en otras tendremos los valores de cantidad cosechada para todos los cultivos. Por ello propongo que </a:t>
              </a:r>
              <a:r>
                <a:rPr lang="es-ES" sz="1100" u="sng" dirty="0"/>
                <a:t>marquemos 3 niveles:</a:t>
              </a:r>
              <a:r>
                <a:rPr lang="es-ES" sz="1100" dirty="0"/>
                <a:t> </a:t>
              </a:r>
            </a:p>
            <a:p>
              <a:pPr marL="685800" lvl="1" indent="-228600">
                <a:buFont typeface="+mj-lt"/>
                <a:buAutoNum type="arabicPeriod"/>
              </a:pPr>
              <a:r>
                <a:rPr lang="es-ES" sz="1100" b="1" dirty="0"/>
                <a:t>En el caso que tengamos el valor de cada lote</a:t>
              </a:r>
            </a:p>
            <a:p>
              <a:pPr marL="685800" lvl="1" indent="-228600">
                <a:buFont typeface="+mj-lt"/>
                <a:buAutoNum type="arabicPeriod"/>
              </a:pPr>
              <a:r>
                <a:rPr lang="es-ES" sz="1100" b="1" dirty="0"/>
                <a:t>En el caso que tengamos el valor de un conjunto de lotes. </a:t>
              </a:r>
            </a:p>
            <a:p>
              <a:pPr marL="685800" lvl="1" indent="-228600">
                <a:buFont typeface="+mj-lt"/>
                <a:buAutoNum type="arabicPeriod"/>
              </a:pPr>
              <a:r>
                <a:rPr lang="es-ES" sz="1100" b="1" dirty="0"/>
                <a:t>En el caso de que tengamos valores globales, es decir la cantidad total de trigo, cebada, etc. De la explotación.</a:t>
              </a:r>
            </a:p>
            <a:p>
              <a:pPr lvl="1"/>
              <a:r>
                <a:rPr lang="es-ES" sz="1100" i="1" dirty="0">
                  <a:solidFill>
                    <a:srgbClr val="002060"/>
                  </a:solidFill>
                </a:rPr>
                <a:t>En el caso es que según se vaya rellenando el valor de los lotes (1.) se vaya calculado un valor medio de la explotación. En el caso 2. y 3. que directamente se rellene el valor medio de la explotación de forma manual/directa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000897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954603D-15E3-482A-C129-C843FD4234ED}"/>
              </a:ext>
            </a:extLst>
          </p:cNvPr>
          <p:cNvSpPr txBox="1"/>
          <p:nvPr/>
        </p:nvSpPr>
        <p:spPr>
          <a:xfrm>
            <a:off x="231144" y="137800"/>
            <a:ext cx="4541855" cy="369332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3. AJUSTE MAPA A RINDES REALES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9AF1D52-0EC7-D9E1-18D7-899B4F33B633}"/>
              </a:ext>
            </a:extLst>
          </p:cNvPr>
          <p:cNvSpPr txBox="1"/>
          <p:nvPr/>
        </p:nvSpPr>
        <p:spPr>
          <a:xfrm>
            <a:off x="201221" y="559909"/>
            <a:ext cx="4917518" cy="3801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El valor de la </a:t>
            </a:r>
            <a:r>
              <a:rPr lang="es-ES" sz="1100" u="sng" dirty="0"/>
              <a:t>mediana de los mapas (RM)</a:t>
            </a:r>
            <a:r>
              <a:rPr lang="es-ES" sz="1100" dirty="0"/>
              <a:t>, para cada lote (1.), o para el conjunto de varios lotes (2.) o todos los lotes de la explotación que tienen el mismo cultivo (3.), se equipara al valor del RL de cada </a:t>
            </a:r>
            <a:r>
              <a:rPr lang="es-ES" sz="1100" u="sng" dirty="0"/>
              <a:t>nivel</a:t>
            </a:r>
          </a:p>
          <a:p>
            <a:endParaRPr lang="es-ES" sz="1100" b="1" u="sng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s-ES" sz="1400" b="1" dirty="0" err="1"/>
              <a:t>MinM</a:t>
            </a:r>
            <a:r>
              <a:rPr lang="es-ES" sz="1400" b="1" dirty="0"/>
              <a:t> </a:t>
            </a:r>
            <a:r>
              <a:rPr lang="es-ES" sz="1400" dirty="0"/>
              <a:t>= Valor min del mapa, que es 0Kg/ha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s-ES" sz="1400" b="1" dirty="0" err="1"/>
              <a:t>MinR</a:t>
            </a:r>
            <a:r>
              <a:rPr lang="es-ES" sz="1400" dirty="0"/>
              <a:t> = Valor min real, que es 0Kg/ha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s-ES" sz="1400" b="1" dirty="0"/>
              <a:t>RM</a:t>
            </a:r>
            <a:r>
              <a:rPr lang="es-ES" sz="1400" dirty="0"/>
              <a:t> = valor de la mediana (antes)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s-ES" sz="1400" b="1" dirty="0"/>
              <a:t>RL</a:t>
            </a:r>
            <a:r>
              <a:rPr lang="es-ES" sz="1400" dirty="0"/>
              <a:t> = valor real medio calculado antes para alguno de los tres niveles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s-ES" sz="1400" b="1" dirty="0" err="1"/>
              <a:t>MaxM</a:t>
            </a:r>
            <a:r>
              <a:rPr lang="es-ES" sz="1400" dirty="0"/>
              <a:t> = valor máximo que toma el mapa, en este lote o conjunto de lotes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s-ES" sz="1400" b="1" dirty="0" err="1"/>
              <a:t>MaxR</a:t>
            </a:r>
            <a:r>
              <a:rPr lang="es-ES" sz="1400" dirty="0"/>
              <a:t> =  valor máximo estimado para ese valor medio real calculado. Para obtener este valor; </a:t>
            </a:r>
            <a:r>
              <a:rPr lang="es-ES" sz="1400" b="1" dirty="0"/>
              <a:t>RL *1.85 =</a:t>
            </a:r>
            <a:r>
              <a:rPr lang="es-ES" sz="1400" b="1" dirty="0" err="1"/>
              <a:t>MaxR</a:t>
            </a:r>
            <a:endParaRPr lang="es-ES" sz="1400" b="1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s-ES" sz="1400" b="1" dirty="0"/>
          </a:p>
          <a:p>
            <a:r>
              <a:rPr lang="es-ES" sz="1400" dirty="0"/>
              <a:t>El ajuste será el </a:t>
            </a:r>
            <a:r>
              <a:rPr lang="es-ES" sz="1400" dirty="0" err="1"/>
              <a:t>ultilizado</a:t>
            </a:r>
            <a:r>
              <a:rPr lang="es-ES" sz="1400" dirty="0"/>
              <a:t> para obtener el valor de cada registro del mapa, en su valor ajustado a la realidad:</a:t>
            </a:r>
          </a:p>
          <a:p>
            <a:pPr algn="ctr"/>
            <a:r>
              <a:rPr lang="en-US" sz="1400" i="1" baseline="0" dirty="0" err="1"/>
              <a:t>Ejemplo</a:t>
            </a:r>
            <a:r>
              <a:rPr lang="en-US" b="1" baseline="0" dirty="0"/>
              <a:t> RL (</a:t>
            </a:r>
            <a:r>
              <a:rPr lang="en-US" b="1" baseline="0" dirty="0" err="1"/>
              <a:t>i</a:t>
            </a:r>
            <a:r>
              <a:rPr lang="en-US" b="1" baseline="0" dirty="0"/>
              <a:t>) = 0.3911 * RM (</a:t>
            </a:r>
            <a:r>
              <a:rPr lang="en-US" b="1" baseline="0" dirty="0" err="1"/>
              <a:t>i</a:t>
            </a:r>
            <a:r>
              <a:rPr lang="en-US" b="1" baseline="0" dirty="0"/>
              <a:t>)</a:t>
            </a:r>
            <a:endParaRPr lang="es-ES" b="1" dirty="0"/>
          </a:p>
          <a:p>
            <a:endParaRPr lang="es-ES" sz="1100" u="sng"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8A75B66D-A11D-4495-0C66-DA75CB5D09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9345922"/>
              </p:ext>
            </p:extLst>
          </p:nvPr>
        </p:nvGraphicFramePr>
        <p:xfrm>
          <a:off x="5942629" y="137800"/>
          <a:ext cx="4568190" cy="1595885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284095">
                  <a:extLst>
                    <a:ext uri="{9D8B030D-6E8A-4147-A177-3AD203B41FA5}">
                      <a16:colId xmlns:a16="http://schemas.microsoft.com/office/drawing/2014/main" val="1649175554"/>
                    </a:ext>
                  </a:extLst>
                </a:gridCol>
                <a:gridCol w="2284095">
                  <a:extLst>
                    <a:ext uri="{9D8B030D-6E8A-4147-A177-3AD203B41FA5}">
                      <a16:colId xmlns:a16="http://schemas.microsoft.com/office/drawing/2014/main" val="3851798638"/>
                    </a:ext>
                  </a:extLst>
                </a:gridCol>
              </a:tblGrid>
              <a:tr h="319177"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600" b="1" u="none" strike="noStrike" dirty="0">
                          <a:effectLst/>
                        </a:rPr>
                        <a:t>Eje X</a:t>
                      </a:r>
                      <a:endParaRPr lang="es-E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600" b="1" u="none" strike="noStrike">
                          <a:effectLst/>
                        </a:rPr>
                        <a:t>Eje Y</a:t>
                      </a:r>
                      <a:endParaRPr lang="es-E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9261617"/>
                  </a:ext>
                </a:extLst>
              </a:tr>
              <a:tr h="319177"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1" u="none" strike="noStrike">
                          <a:effectLst/>
                        </a:rPr>
                        <a:t>Mapa</a:t>
                      </a:r>
                      <a:endParaRPr lang="es-E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1" u="none" strike="noStrike" dirty="0">
                          <a:effectLst/>
                        </a:rPr>
                        <a:t>Real</a:t>
                      </a:r>
                      <a:endParaRPr lang="es-E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7474402"/>
                  </a:ext>
                </a:extLst>
              </a:tr>
              <a:tr h="319177"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u="none" strike="noStrike" dirty="0" err="1">
                          <a:effectLst/>
                          <a:highlight>
                            <a:srgbClr val="00FFFF"/>
                          </a:highlight>
                        </a:rPr>
                        <a:t>MinM</a:t>
                      </a:r>
                      <a:r>
                        <a:rPr lang="es-ES" sz="1600" u="none" strike="noStrike" dirty="0">
                          <a:effectLst/>
                        </a:rPr>
                        <a:t> 0 Kg/ha</a:t>
                      </a:r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u="none" strike="noStrike" dirty="0" err="1">
                          <a:effectLst/>
                          <a:highlight>
                            <a:srgbClr val="00FFFF"/>
                          </a:highlight>
                        </a:rPr>
                        <a:t>MinR</a:t>
                      </a:r>
                      <a:r>
                        <a:rPr lang="es-ES" sz="1600" u="none" strike="noStrike" dirty="0">
                          <a:effectLst/>
                        </a:rPr>
                        <a:t> 0 Kg/ha</a:t>
                      </a:r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221560921"/>
                  </a:ext>
                </a:extLst>
              </a:tr>
              <a:tr h="319177"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1" u="none" strike="noStrike" dirty="0">
                          <a:effectLst/>
                          <a:highlight>
                            <a:srgbClr val="FFFF00"/>
                          </a:highlight>
                        </a:rPr>
                        <a:t>RM</a:t>
                      </a:r>
                      <a:r>
                        <a:rPr lang="es-ES" sz="1600" u="none" strike="noStrike" dirty="0">
                          <a:effectLst/>
                        </a:rPr>
                        <a:t> 4,032 Kg/ha</a:t>
                      </a:r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1" u="none" strike="noStrike" dirty="0">
                          <a:effectLst/>
                          <a:highlight>
                            <a:srgbClr val="FFFF00"/>
                          </a:highlight>
                        </a:rPr>
                        <a:t>RL</a:t>
                      </a:r>
                      <a:r>
                        <a:rPr lang="es-ES" sz="1600" u="none" strike="noStrike" dirty="0">
                          <a:effectLst/>
                        </a:rPr>
                        <a:t> 2,580 Kg/ha</a:t>
                      </a:r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616259169"/>
                  </a:ext>
                </a:extLst>
              </a:tr>
              <a:tr h="319177"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1" u="none" strike="noStrike" dirty="0" err="1">
                          <a:effectLst/>
                          <a:highlight>
                            <a:srgbClr val="008000"/>
                          </a:highlight>
                        </a:rPr>
                        <a:t>MaxM</a:t>
                      </a:r>
                      <a:r>
                        <a:rPr lang="es-ES" sz="1600" u="none" strike="noStrike" dirty="0">
                          <a:effectLst/>
                        </a:rPr>
                        <a:t> 3,000 Kg/ha</a:t>
                      </a:r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1" u="none" strike="noStrike" dirty="0" err="1">
                          <a:effectLst/>
                          <a:highlight>
                            <a:srgbClr val="008000"/>
                          </a:highlight>
                        </a:rPr>
                        <a:t>MaxR</a:t>
                      </a:r>
                      <a:r>
                        <a:rPr lang="es-ES" sz="1600" u="none" strike="noStrike" dirty="0">
                          <a:effectLst/>
                        </a:rPr>
                        <a:t> 4,773 Kg/ha</a:t>
                      </a:r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687624001"/>
                  </a:ext>
                </a:extLst>
              </a:tr>
            </a:tbl>
          </a:graphicData>
        </a:graphic>
      </p:graphicFrame>
      <p:graphicFrame>
        <p:nvGraphicFramePr>
          <p:cNvPr id="6" name="Gráfico 5">
            <a:extLst>
              <a:ext uri="{FF2B5EF4-FFF2-40B4-BE49-F238E27FC236}">
                <a16:creationId xmlns:a16="http://schemas.microsoft.com/office/drawing/2014/main" id="{6D174868-3EB5-8805-0E6E-70190915AE4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08215365"/>
              </p:ext>
            </p:extLst>
          </p:nvPr>
        </p:nvGraphicFramePr>
        <p:xfrm>
          <a:off x="5942629" y="1854678"/>
          <a:ext cx="5806548" cy="36230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8047052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CB160C6-CF2D-00B5-A4A2-4A6174765AB2}"/>
              </a:ext>
            </a:extLst>
          </p:cNvPr>
          <p:cNvSpPr txBox="1"/>
          <p:nvPr/>
        </p:nvSpPr>
        <p:spPr>
          <a:xfrm>
            <a:off x="231144" y="137800"/>
            <a:ext cx="4541855" cy="369332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4. CALCULOS DERIVADOS DEL MAPA DE RINDE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0DB861F-21D7-83FE-F5CF-9499B56D8D1A}"/>
              </a:ext>
            </a:extLst>
          </p:cNvPr>
          <p:cNvSpPr txBox="1"/>
          <p:nvPr/>
        </p:nvSpPr>
        <p:spPr>
          <a:xfrm>
            <a:off x="231143" y="637281"/>
            <a:ext cx="11742321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A partir de los valores de producción de cada cultivo, conocemos la COSECHA, y las extracciones reales que han existido con estas cosechas. Por lo tanto, con las mismas tablas usadas en la fertilización, calculamos: </a:t>
            </a:r>
          </a:p>
          <a:p>
            <a:pPr marL="628650" lvl="1" indent="-171450">
              <a:buFont typeface="Wingdings" panose="05000000000000000000" pitchFamily="2" charset="2"/>
              <a:buChar char="§"/>
            </a:pPr>
            <a:r>
              <a:rPr lang="es-ES" sz="1400" dirty="0"/>
              <a:t>Biomasa total = Cosecha / Índice de Cosecha</a:t>
            </a:r>
          </a:p>
          <a:p>
            <a:pPr marL="628650" lvl="1" indent="-171450">
              <a:buFont typeface="Wingdings" panose="05000000000000000000" pitchFamily="2" charset="2"/>
              <a:buChar char="§"/>
            </a:pPr>
            <a:r>
              <a:rPr lang="es-ES" sz="1400" dirty="0"/>
              <a:t>Residuo = Biomasa – Cosecha</a:t>
            </a:r>
          </a:p>
          <a:p>
            <a:pPr marL="628650" lvl="1" indent="-171450">
              <a:buFont typeface="Wingdings" panose="05000000000000000000" pitchFamily="2" charset="2"/>
              <a:buChar char="§"/>
            </a:pPr>
            <a:r>
              <a:rPr lang="es-ES" sz="1400" dirty="0"/>
              <a:t>Materia seca cosecha = (1- </a:t>
            </a:r>
            <a:r>
              <a:rPr lang="es-ES" sz="1400" dirty="0" err="1"/>
              <a:t>hr</a:t>
            </a:r>
            <a:r>
              <a:rPr lang="es-ES" sz="1400" dirty="0"/>
              <a:t>) * Cosecha</a:t>
            </a:r>
          </a:p>
          <a:p>
            <a:pPr marL="628650" lvl="1" indent="-171450">
              <a:buFont typeface="Wingdings" panose="05000000000000000000" pitchFamily="2" charset="2"/>
              <a:buChar char="§"/>
            </a:pPr>
            <a:r>
              <a:rPr lang="es-ES" sz="1400" dirty="0"/>
              <a:t>Materia seca residuo = (1- </a:t>
            </a:r>
            <a:r>
              <a:rPr lang="es-ES" sz="1400" dirty="0" err="1"/>
              <a:t>hr</a:t>
            </a:r>
            <a:r>
              <a:rPr lang="es-ES" sz="1400" dirty="0"/>
              <a:t>) * Residuo</a:t>
            </a:r>
          </a:p>
          <a:p>
            <a:pPr marL="628650" lvl="1" indent="-171450">
              <a:buFont typeface="Wingdings" panose="05000000000000000000" pitchFamily="2" charset="2"/>
              <a:buChar char="§"/>
            </a:pPr>
            <a:r>
              <a:rPr lang="es-ES" sz="1400" dirty="0"/>
              <a:t>N extraído = Materia seca cosecha * %N cosecha + Materia seca residuo * %N residuo</a:t>
            </a:r>
          </a:p>
          <a:p>
            <a:pPr marL="628650" lvl="1" indent="-171450">
              <a:buFont typeface="Wingdings" panose="05000000000000000000" pitchFamily="2" charset="2"/>
              <a:buChar char="§"/>
            </a:pPr>
            <a:r>
              <a:rPr lang="es-ES" sz="1400" dirty="0"/>
              <a:t>P2O5 extraído = Materia seca cosecha * % P2O5 cosecha + Materia seca residuo * % P2O5 residuo</a:t>
            </a:r>
          </a:p>
          <a:p>
            <a:pPr marL="628650" lvl="1" indent="-171450">
              <a:buFont typeface="Wingdings" panose="05000000000000000000" pitchFamily="2" charset="2"/>
              <a:buChar char="§"/>
            </a:pPr>
            <a:r>
              <a:rPr lang="es-ES" sz="1400" dirty="0"/>
              <a:t>K2O extraído = Materia seca cosecha * % K2O cosecha + Materia seca residuo * % K2O residuo</a:t>
            </a:r>
          </a:p>
          <a:p>
            <a:pPr marL="628650" lvl="1" indent="-171450">
              <a:buFont typeface="Wingdings" panose="05000000000000000000" pitchFamily="2" charset="2"/>
              <a:buChar char="§"/>
            </a:pPr>
            <a:r>
              <a:rPr lang="es-ES" sz="1400" dirty="0"/>
              <a:t>Balance N = N aportado con fertilización - N extraído </a:t>
            </a:r>
          </a:p>
          <a:p>
            <a:pPr marL="628650" lvl="1" indent="-171450">
              <a:buFont typeface="Wingdings" panose="05000000000000000000" pitchFamily="2" charset="2"/>
              <a:buChar char="§"/>
            </a:pPr>
            <a:r>
              <a:rPr lang="es-ES" sz="1400" dirty="0"/>
              <a:t>Balance P2O5 = P2O5 aportado con fertilización - P2O5 extraído </a:t>
            </a:r>
          </a:p>
          <a:p>
            <a:pPr marL="628650" lvl="1" indent="-171450">
              <a:buFont typeface="Wingdings" panose="05000000000000000000" pitchFamily="2" charset="2"/>
              <a:buChar char="§"/>
            </a:pPr>
            <a:r>
              <a:rPr lang="es-ES" sz="1400" dirty="0"/>
              <a:t>Balance K2O = K2O aportado con fertilización - K2O extraído </a:t>
            </a:r>
          </a:p>
          <a:p>
            <a:pPr marL="628650" lvl="1" indent="-171450">
              <a:buFont typeface="Wingdings" panose="05000000000000000000" pitchFamily="2" charset="2"/>
              <a:buChar char="§"/>
            </a:pPr>
            <a:r>
              <a:rPr lang="es-ES" sz="1400" dirty="0"/>
              <a:t>Beneficio = Ingreso – Coste fertilización</a:t>
            </a:r>
          </a:p>
          <a:p>
            <a:pPr marL="1200150" lvl="2" indent="-285750">
              <a:buFont typeface="Wingdings" panose="05000000000000000000" pitchFamily="2" charset="2"/>
              <a:buChar char="v"/>
            </a:pPr>
            <a:r>
              <a:rPr lang="es-ES" sz="1400" dirty="0"/>
              <a:t>Ingreso = Cosecha  * Precio estándar </a:t>
            </a:r>
          </a:p>
          <a:p>
            <a:pPr marL="1200150" lvl="2" indent="-285750">
              <a:buFont typeface="Wingdings" panose="05000000000000000000" pitchFamily="2" charset="2"/>
              <a:buChar char="v"/>
            </a:pPr>
            <a:r>
              <a:rPr lang="es-ES" sz="1400" dirty="0"/>
              <a:t>Coste fertilización = Fertilización 01* Precio fert01  – Fertilización 02* Precio fert02 – Fertilización 03* Precio fert03 </a:t>
            </a:r>
          </a:p>
          <a:p>
            <a:pPr marL="1657350" lvl="3" indent="-285750">
              <a:buFont typeface="Wingdings" panose="05000000000000000000" pitchFamily="2" charset="2"/>
              <a:buChar char="ü"/>
            </a:pPr>
            <a:r>
              <a:rPr lang="es-ES" sz="1400" dirty="0"/>
              <a:t>Precio estándar que quedará definido por explotación [unidad monetaria/ha]</a:t>
            </a:r>
          </a:p>
          <a:p>
            <a:pPr marL="1657350" lvl="3" indent="-285750">
              <a:buFont typeface="Wingdings" panose="05000000000000000000" pitchFamily="2" charset="2"/>
              <a:buChar char="ü"/>
            </a:pPr>
            <a:r>
              <a:rPr lang="es-ES" sz="1400" dirty="0"/>
              <a:t>Precio de fertilizante [€/Kg] de cada fertilizante, tambien definido por explotación</a:t>
            </a:r>
          </a:p>
          <a:p>
            <a:pPr marL="628650" lvl="1" indent="-171450">
              <a:buFont typeface="Wingdings" panose="05000000000000000000" pitchFamily="2" charset="2"/>
              <a:buChar char="§"/>
            </a:pPr>
            <a:r>
              <a:rPr lang="es-ES" sz="1400" dirty="0"/>
              <a:t>NUE = Cosecha / N aportado con fertilización </a:t>
            </a:r>
          </a:p>
          <a:p>
            <a:pPr marL="628650" lvl="1" indent="-171450">
              <a:buFont typeface="Wingdings" panose="05000000000000000000" pitchFamily="2" charset="2"/>
              <a:buChar char="§"/>
            </a:pPr>
            <a:r>
              <a:rPr lang="es-ES" sz="1400" dirty="0"/>
              <a:t>PUE = Cosecha / P2O5 aportado con fertilización </a:t>
            </a:r>
          </a:p>
          <a:p>
            <a:pPr marL="628650" lvl="1" indent="-171450">
              <a:buFont typeface="Wingdings" panose="05000000000000000000" pitchFamily="2" charset="2"/>
              <a:buChar char="§"/>
            </a:pPr>
            <a:r>
              <a:rPr lang="es-ES" sz="1400" dirty="0"/>
              <a:t>KUE = Cosecha / K2O aportado con fertilización </a:t>
            </a:r>
          </a:p>
          <a:p>
            <a:pPr marL="628650" lvl="1" indent="-171450">
              <a:buFont typeface="Wingdings" panose="05000000000000000000" pitchFamily="2" charset="2"/>
              <a:buChar char="§"/>
            </a:pPr>
            <a:endParaRPr lang="es-ES" sz="1400" dirty="0"/>
          </a:p>
          <a:p>
            <a:pPr marL="628650" lvl="1" indent="-171450">
              <a:buFont typeface="Wingdings" panose="05000000000000000000" pitchFamily="2" charset="2"/>
              <a:buChar char="§"/>
            </a:pPr>
            <a:endParaRPr lang="es-ES" sz="1400" dirty="0"/>
          </a:p>
          <a:p>
            <a:endParaRPr lang="es-ES" sz="1200" i="1" dirty="0"/>
          </a:p>
          <a:p>
            <a:endParaRPr lang="es-ES" sz="1200" i="1" dirty="0"/>
          </a:p>
          <a:p>
            <a:r>
              <a:rPr lang="es-ES" sz="1200" i="1" dirty="0" err="1"/>
              <a:t>hr</a:t>
            </a:r>
            <a:r>
              <a:rPr lang="es-ES" sz="1200" i="1" dirty="0"/>
              <a:t> = humedad de referencia</a:t>
            </a:r>
          </a:p>
          <a:p>
            <a:endParaRPr lang="es-ES" sz="1400" dirty="0"/>
          </a:p>
          <a:p>
            <a:endParaRPr lang="es-ES" sz="1400" dirty="0"/>
          </a:p>
        </p:txBody>
      </p:sp>
    </p:spTree>
    <p:extLst>
      <p:ext uri="{BB962C8B-B14F-4D97-AF65-F5344CB8AC3E}">
        <p14:creationId xmlns:p14="http://schemas.microsoft.com/office/powerpoint/2010/main" val="366756013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5822</TotalTime>
  <Words>802</Words>
  <Application>Microsoft Office PowerPoint</Application>
  <PresentationFormat>Panorámica</PresentationFormat>
  <Paragraphs>66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Wingdings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Jorge Miñón</dc:creator>
  <cp:lastModifiedBy>Jorge Miñón</cp:lastModifiedBy>
  <cp:revision>1</cp:revision>
  <dcterms:created xsi:type="dcterms:W3CDTF">2023-07-13T19:35:54Z</dcterms:created>
  <dcterms:modified xsi:type="dcterms:W3CDTF">2023-07-17T20:37:56Z</dcterms:modified>
</cp:coreProperties>
</file>